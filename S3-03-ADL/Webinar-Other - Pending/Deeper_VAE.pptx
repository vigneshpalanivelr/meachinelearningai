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24.xml" ContentType="application/vnd.openxmlformats-officedocument.presentationml.slide+xml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42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4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7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3" r:id="rId3"/>
    <p:sldMasterId id="2147483738" r:id="rId4"/>
    <p:sldMasterId id="2147483750" r:id="rId5"/>
  </p:sldMasterIdLst>
  <p:notesMasterIdLst>
    <p:notesMasterId r:id="rId30"/>
  </p:notesMasterIdLst>
  <p:handoutMasterIdLst>
    <p:handoutMasterId r:id="rId31"/>
  </p:handoutMasterIdLst>
  <p:sldIdLst>
    <p:sldId id="1399" r:id="rId6"/>
    <p:sldId id="1400" r:id="rId7"/>
    <p:sldId id="1366" r:id="rId8"/>
    <p:sldId id="1367" r:id="rId9"/>
    <p:sldId id="1368" r:id="rId10"/>
    <p:sldId id="1369" r:id="rId11"/>
    <p:sldId id="1370" r:id="rId12"/>
    <p:sldId id="1371" r:id="rId13"/>
    <p:sldId id="1372" r:id="rId14"/>
    <p:sldId id="1373" r:id="rId15"/>
    <p:sldId id="1374" r:id="rId16"/>
    <p:sldId id="1375" r:id="rId17"/>
    <p:sldId id="1376" r:id="rId18"/>
    <p:sldId id="1377" r:id="rId19"/>
    <p:sldId id="1378" r:id="rId20"/>
    <p:sldId id="1379" r:id="rId21"/>
    <p:sldId id="1380" r:id="rId22"/>
    <p:sldId id="1381" r:id="rId23"/>
    <p:sldId id="1382" r:id="rId24"/>
    <p:sldId id="1383" r:id="rId25"/>
    <p:sldId id="1384" r:id="rId26"/>
    <p:sldId id="1385" r:id="rId27"/>
    <p:sldId id="1386" r:id="rId28"/>
    <p:sldId id="1387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AE77"/>
    <a:srgbClr val="FF3600"/>
    <a:srgbClr val="C55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0424" autoAdjust="0"/>
  </p:normalViewPr>
  <p:slideViewPr>
    <p:cSldViewPr snapToGrid="0" snapToObjects="1">
      <p:cViewPr varScale="1">
        <p:scale>
          <a:sx n="66" d="100"/>
          <a:sy n="66" d="100"/>
        </p:scale>
        <p:origin x="15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4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5FE80-612E-D248-B584-DA8E060B9D6E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8B8669-6234-4F44-A6CB-41A2A29AB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416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6FA95-F25F-6A4E-9805-3808DEC8B84A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A8895-A308-DC44-9938-C42D876EE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24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3EE38-C8CA-0C44-947F-F569C925BA56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15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9F761-062A-B94A-8542-9F565EB6F277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73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F882-12AF-7E45-A669-9397B47E14F8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7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89993"/>
            <a:ext cx="4038600" cy="49361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89993"/>
            <a:ext cx="4038600" cy="49361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7FDFC-8405-6B4A-A08B-E3A56D1E6B3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863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523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4994"/>
            <a:ext cx="4040188" cy="4271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1523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54994"/>
            <a:ext cx="4041775" cy="4271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A6AC-7802-B748-8BFC-963178D932F5}" type="datetime1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26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975DF-1D7E-3D46-9FBF-32626F7C8B76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4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B7F1-0188-A940-BF5D-66E37647A655}" type="datetime1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5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3F8A-3757-3D4C-A426-B0CD6A2F9C46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3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F7F2-6097-5847-AD96-B9054D2B06FC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4FC9C-2E47-5D47-95CF-45E1ACF1DBF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2B54D-F174-1149-BF06-CD7DD5AF9AA3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42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28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28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3881438"/>
            <a:ext cx="8229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800"/>
            </a:lvl1pPr>
          </a:lstStyle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fld id="{48DE5349-D7F5-4C1F-A5F4-CC997E27CB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130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28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881438"/>
            <a:ext cx="8229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800"/>
            </a:lvl1pPr>
          </a:lstStyle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fld id="{9A6A1787-49D9-4C6E-B7C7-59753D4A4C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321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851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104519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875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1045195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6016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5719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214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159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2488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5405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8360019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9384702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7923535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8988618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41094845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66980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0746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8773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8825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6426105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82341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97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55153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4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5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25088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dirty="0"/>
          </a:p>
        </p:txBody>
      </p:sp>
      <p:sp>
        <p:nvSpPr>
          <p:cNvPr id="25088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4D584A2-0344-4A64-85F9-86CD4928F9D9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250889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0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1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2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3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4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5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6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7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8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899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0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1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2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3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4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5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6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7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8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9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0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1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2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3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4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5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6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7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8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19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0920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>
            <a:grpSpLocks/>
          </p:cNvGrpSpPr>
          <p:nvPr userDrawn="1"/>
        </p:nvGrpSpPr>
        <p:grpSpPr bwMode="auto">
          <a:xfrm>
            <a:off x="609600" y="152400"/>
            <a:ext cx="2438400" cy="420688"/>
            <a:chOff x="0" y="6"/>
            <a:chExt cx="1248" cy="265"/>
          </a:xfrm>
        </p:grpSpPr>
        <p:sp>
          <p:nvSpPr>
            <p:cNvPr id="42" name="Rectangle 42"/>
            <p:cNvSpPr>
              <a:spLocks noChangeArrowheads="1"/>
            </p:cNvSpPr>
            <p:nvPr userDrawn="1"/>
          </p:nvSpPr>
          <p:spPr bwMode="auto">
            <a:xfrm>
              <a:off x="0" y="6"/>
              <a:ext cx="124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>
                  <a:solidFill>
                    <a:srgbClr val="A50021"/>
                  </a:solidFill>
                  <a:latin typeface="Helvetica Neue Bold Condensed" pitchFamily="-12" charset="0"/>
                  <a:ea typeface="ＭＳ Ｐゴシック" pitchFamily="34" charset="-128"/>
                </a:rPr>
                <a:t>School of Computer Science</a:t>
              </a:r>
            </a:p>
          </p:txBody>
        </p:sp>
        <p:pic>
          <p:nvPicPr>
            <p:cNvPr id="43" name="Picture 43" descr="wordmarkred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4" y="168"/>
              <a:ext cx="639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4" name="Picture 4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90500" y="152400"/>
            <a:ext cx="430213" cy="4492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2046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0F549-F879-4053-8685-4286A6313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68278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16BF4-0C06-46C4-8F64-4CF8DA863C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72178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3FC620-C6B9-49BD-AA1C-2FA7D4C50E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504240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0ADC6-CE19-4300-8EBE-7AC2ADD77F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7956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B5796-D054-4DD8-B5EF-73FA0ED307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544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152400"/>
            <a:ext cx="2114550" cy="5859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191250" cy="5859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A96E2E-D738-4E1C-9FCE-771120A47E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81188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28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28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3881438"/>
            <a:ext cx="8229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800"/>
            </a:lvl1pPr>
          </a:lstStyle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fld id="{48DE5349-D7F5-4C1F-A5F4-CC997E27CB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57475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116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4116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800"/>
            </a:lvl1pPr>
          </a:lstStyle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fld id="{CD3B44FC-3DD7-4F46-9E87-ED25DEAC5B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91614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28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881438"/>
            <a:ext cx="8229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© Eric Xing @ CMU, 2005-2015</a:t>
            </a:r>
            <a:endParaRPr lang="en-US" altLang="en-US" sz="100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800"/>
            </a:lvl1pPr>
          </a:lstStyle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fld id="{9A6A1787-49D9-4C6E-B7C7-59753D4A4C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92670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:\paint.GIF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buFont typeface="Wingding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123D27-44AE-1D4A-8491-6DE6BEA9989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102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BB205A-3110-804D-BCA5-F8244F042B0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9396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B32D5A-8082-774C-9D29-4812EBF5DF8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7898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132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676400"/>
            <a:ext cx="40132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1AF86C-91F6-5344-B023-7256C9BAD80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6133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5ABEDB-4CFC-6847-9D03-9579480D8EA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173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5F3CFA-B6A8-2742-B240-918F23D61C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3938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749201-F89E-7B4D-A97E-1E7192B9306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4073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9A741F-EAD6-4748-BD6A-614FB90B4AF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8297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49901C-3A04-634F-B3E1-56190CCC448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7647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40EE36-526D-6644-8989-4EB02D9E87D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8371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8600" y="53975"/>
            <a:ext cx="2057400" cy="62706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53975"/>
            <a:ext cx="6019800" cy="62706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C801EF-A2CD-0F4D-ABD3-8A65E309ED6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6939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8443C-72BE-CF4B-ACE7-DD445CD666F8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5550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5456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1FB-6672-D449-BF26-4C1DC7D36F2F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2071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6031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2918-CC78-8D41-ABA1-1E8F61DC43D1}" type="datetime1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43375350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16887834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2599B-CF4E-4745-A1C4-0A1EAD1AE797}" type="datetime1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3855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3415-B2F7-814D-AB88-C1D4F5212AB3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3683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EB1A2-967F-EF46-A281-A64C8735F71A}" type="datetime1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9349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EFC-DC2A-4140-AA88-6404FE9C25AF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88227464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37D0-81EC-E749-AA69-D8326DE4460C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8663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0008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 baseline="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 with a 1 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1" y="6445251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1" y="6445251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1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272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8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1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2574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9326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73731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5886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7060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2430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5388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3025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9051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3223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534400" cy="1066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371600"/>
            <a:ext cx="421005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1050" y="1371600"/>
            <a:ext cx="4211638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0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22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0760"/>
            <a:ext cx="8229600" cy="504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554B1-5E36-6045-A73E-011127FE28AE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2685" y="6356350"/>
            <a:ext cx="8694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45004-F4FB-5345-992E-498B4C43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5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  <p:sldLayoutId id="2147483672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  <p:sldLayoutId id="2147483731" r:id="rId39"/>
    <p:sldLayoutId id="2147483732" r:id="rId40"/>
    <p:sldLayoutId id="2147483733" r:id="rId41"/>
    <p:sldLayoutId id="2147483734" r:id="rId42"/>
    <p:sldLayoutId id="2147483735" r:id="rId43"/>
    <p:sldLayoutId id="2147483765" r:id="rId44"/>
    <p:sldLayoutId id="2147483766" r:id="rId45"/>
    <p:sldLayoutId id="2147483767" r:id="rId46"/>
    <p:sldLayoutId id="2147483768" r:id="rId47"/>
    <p:sldLayoutId id="2147483769" r:id="rId48"/>
    <p:sldLayoutId id="2147483770" r:id="rId49"/>
    <p:sldLayoutId id="2147483771" r:id="rId50"/>
    <p:sldLayoutId id="2147483772" r:id="rId51"/>
    <p:sldLayoutId id="2147483773" r:id="rId52"/>
    <p:sldLayoutId id="2147483774" r:id="rId53"/>
    <p:sldLayoutId id="2147483775" r:id="rId54"/>
    <p:sldLayoutId id="2147483776" r:id="rId55"/>
    <p:sldLayoutId id="2147483778" r:id="rId56"/>
    <p:sldLayoutId id="2147483779" r:id="rId57"/>
    <p:sldLayoutId id="2147483780" r:id="rId58"/>
    <p:sldLayoutId id="2147483781" r:id="rId59"/>
    <p:sldLayoutId id="2147483782" r:id="rId60"/>
    <p:sldLayoutId id="2147483783" r:id="rId61"/>
    <p:sldLayoutId id="2147483806" r:id="rId6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7543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24986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1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498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629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/>
            </a:lvl1pPr>
          </a:lstStyle>
          <a:p>
            <a:endParaRPr lang="en-US" altLang="en-US"/>
          </a:p>
        </p:txBody>
      </p:sp>
      <p:sp>
        <p:nvSpPr>
          <p:cNvPr id="2498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29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ea typeface="宋体" pitchFamily="2" charset="-122"/>
              </a:defRPr>
            </a:lvl1pPr>
          </a:lstStyle>
          <a:p>
            <a:r>
              <a:rPr lang="en-US" altLang="zh-CN" smtClean="0"/>
              <a:t>© Eric Xing @ CMU, 2005-2015</a:t>
            </a:r>
            <a:endParaRPr lang="en-US" altLang="en-US" dirty="0"/>
          </a:p>
        </p:txBody>
      </p:sp>
      <p:sp>
        <p:nvSpPr>
          <p:cNvPr id="2498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629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/>
            </a:lvl1pPr>
          </a:lstStyle>
          <a:p>
            <a:fld id="{3C8A92B3-C588-4B17-81E3-2FFE229700D3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24986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6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6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6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6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8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9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9896" name="Rectangle 40"/>
          <p:cNvSpPr>
            <a:spLocks noChangeArrowheads="1"/>
          </p:cNvSpPr>
          <p:nvPr userDrawn="1"/>
        </p:nvSpPr>
        <p:spPr bwMode="auto">
          <a:xfrm>
            <a:off x="76200" y="1371600"/>
            <a:ext cx="8991600" cy="76200"/>
          </a:xfrm>
          <a:prstGeom prst="rect">
            <a:avLst/>
          </a:prstGeom>
          <a:gradFill rotWithShape="1">
            <a:gsLst>
              <a:gs pos="0">
                <a:srgbClr val="333399">
                  <a:alpha val="94000"/>
                </a:srgbClr>
              </a:gs>
              <a:gs pos="100000">
                <a:srgbClr val="333399">
                  <a:gamma/>
                  <a:shade val="25490"/>
                  <a:invGamma/>
                  <a:alpha val="3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3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200">
          <a:solidFill>
            <a:srgbClr val="333399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3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600">
          <a:solidFill>
            <a:srgbClr val="3366FF"/>
          </a:solidFill>
          <a:latin typeface="+mn-lt"/>
        </a:defRPr>
      </a:lvl2pPr>
      <a:lvl3pPr marL="987425" indent="-293688" algn="l" rtl="0" fontAlgn="base">
        <a:spcBef>
          <a:spcPct val="3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1400">
          <a:solidFill>
            <a:srgbClr val="669900"/>
          </a:solidFill>
          <a:latin typeface="+mn-lt"/>
        </a:defRPr>
      </a:lvl3pPr>
      <a:lvl4pPr marL="1281113" indent="-292100" algn="l" rtl="0" fontAlgn="base">
        <a:spcBef>
          <a:spcPct val="3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1200">
          <a:solidFill>
            <a:srgbClr val="333399"/>
          </a:solidFill>
          <a:latin typeface="+mn-lt"/>
        </a:defRPr>
      </a:lvl4pPr>
      <a:lvl5pPr marL="15986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5pPr>
      <a:lvl6pPr marL="20558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6pPr>
      <a:lvl7pPr marL="25130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7pPr>
      <a:lvl8pPr marL="29702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8pPr>
      <a:lvl9pPr marL="3427413" indent="-315913" algn="l" rtl="0" fontAlgn="base">
        <a:spcBef>
          <a:spcPct val="3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000">
          <a:solidFill>
            <a:srgbClr val="33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539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178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4770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600.465 - Intro to NLP - J. Eisner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Arial" charset="0"/>
              </a:defRPr>
            </a:lvl1pPr>
          </a:lstStyle>
          <a:p>
            <a:fld id="{2FDB50E5-E1D8-5A4D-8102-F1430BFB9E45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030" name="Picture 7" descr="A:\paint.GIF"/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400" y="1139825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1910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solidFill>
                  <a:schemeClr val="bg2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8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  <a:ea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kumimoji="1"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kumimoji="1"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kumimoji="1"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kumimoji="1"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kumimoji="1"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3124200" cy="14176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124200" y="0"/>
            <a:ext cx="6019800" cy="14176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24200" y="142836"/>
            <a:ext cx="5562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39493-8D72-7745-A3DC-04B5A9850C8F}" type="datetime1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56997-4F5F-5A42-B306-795126905A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0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35" tIns="45718" rIns="91435" bIns="45718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35" tIns="45718" rIns="91435" bIns="45718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8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txStyles>
    <p:titleStyle>
      <a:lvl1pPr algn="ctr" defTabSz="457177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457177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2" indent="-285736" algn="l" defTabSz="45717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457177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457177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45717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5E3F-4179-6448-AA78-9B4499A5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04" y="46472"/>
            <a:ext cx="5896841" cy="646256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Variational</a:t>
            </a:r>
            <a:r>
              <a:rPr lang="en-US" dirty="0" smtClean="0"/>
              <a:t> </a:t>
            </a:r>
            <a:r>
              <a:rPr lang="en-US" dirty="0" err="1" smtClean="0"/>
              <a:t>Autoencoders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0" y="692728"/>
            <a:ext cx="5231824" cy="59297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53890" y="2274838"/>
            <a:ext cx="39901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51A2D"/>
                </a:solidFill>
                <a:latin typeface="Open Sans"/>
              </a:rPr>
              <a:t>The architecture of the VAE actually closely resembles that of the </a:t>
            </a:r>
            <a:r>
              <a:rPr lang="en-US" dirty="0" err="1">
                <a:solidFill>
                  <a:srgbClr val="151A2D"/>
                </a:solidFill>
                <a:latin typeface="Open Sans"/>
              </a:rPr>
              <a:t>Autoencoder</a:t>
            </a:r>
            <a:r>
              <a:rPr lang="en-US" dirty="0">
                <a:solidFill>
                  <a:srgbClr val="151A2D"/>
                </a:solidFill>
                <a:latin typeface="Open Sans"/>
              </a:rPr>
              <a:t>, with the main difference being that the </a:t>
            </a:r>
            <a:r>
              <a:rPr lang="en-US" b="1" dirty="0">
                <a:solidFill>
                  <a:srgbClr val="151A2D"/>
                </a:solidFill>
                <a:latin typeface="Open Sans"/>
              </a:rPr>
              <a:t>input is encoded into two vectors</a:t>
            </a:r>
            <a:r>
              <a:rPr lang="en-US" dirty="0">
                <a:solidFill>
                  <a:srgbClr val="151A2D"/>
                </a:solidFill>
                <a:latin typeface="Open Sans"/>
              </a:rPr>
              <a:t>, rather than one. These two vectors are used to define a </a:t>
            </a:r>
            <a:r>
              <a:rPr lang="en-US" b="1" dirty="0">
                <a:solidFill>
                  <a:srgbClr val="FF0000"/>
                </a:solidFill>
                <a:latin typeface="Open Sans"/>
              </a:rPr>
              <a:t>normal distribution</a:t>
            </a:r>
            <a:r>
              <a:rPr lang="en-US" dirty="0">
                <a:solidFill>
                  <a:srgbClr val="151A2D"/>
                </a:solidFill>
                <a:latin typeface="Open Sans"/>
              </a:rPr>
              <a:t>, where the latent representation of the input is then drawn from.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5E3F-4179-6448-AA78-9B4499A5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67" y="32617"/>
            <a:ext cx="5896841" cy="646256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Variational</a:t>
            </a:r>
            <a:r>
              <a:rPr lang="en-US" dirty="0" smtClean="0"/>
              <a:t> </a:t>
            </a:r>
            <a:r>
              <a:rPr lang="en-US" dirty="0" err="1" smtClean="0"/>
              <a:t>Autoencoders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678873"/>
            <a:ext cx="9058275" cy="26682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6030" y="3347172"/>
            <a:ext cx="902797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 the example above, we've described the input image in terms of its latent attributes using a single value to describe each attribute. </a:t>
            </a: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However</a:t>
            </a:r>
            <a:r>
              <a:rPr lang="en-IN" sz="2000" dirty="0"/>
              <a:t>, we may prefer to represent each latent attribute as a range of possible values. </a:t>
            </a: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For </a:t>
            </a:r>
            <a:r>
              <a:rPr lang="en-IN" sz="2000" dirty="0"/>
              <a:t>instance, what single value would you assign for the smile attribute if you feed in a photo of the Mona Lisa? </a:t>
            </a: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Using </a:t>
            </a:r>
            <a:r>
              <a:rPr lang="en-IN" sz="2000" dirty="0"/>
              <a:t>a </a:t>
            </a:r>
            <a:r>
              <a:rPr lang="en-IN" sz="2000" dirty="0" err="1"/>
              <a:t>variational</a:t>
            </a:r>
            <a:r>
              <a:rPr lang="en-IN" sz="2000" dirty="0"/>
              <a:t> </a:t>
            </a:r>
            <a:r>
              <a:rPr lang="en-IN" sz="2000" dirty="0" err="1"/>
              <a:t>autoencoder</a:t>
            </a:r>
            <a:r>
              <a:rPr lang="en-IN" sz="2000" dirty="0"/>
              <a:t>, we can describe latent attributes in probabilistic terms.</a:t>
            </a:r>
          </a:p>
        </p:txBody>
      </p:sp>
    </p:spTree>
    <p:extLst>
      <p:ext uri="{BB962C8B-B14F-4D97-AF65-F5344CB8AC3E}">
        <p14:creationId xmlns:p14="http://schemas.microsoft.com/office/powerpoint/2010/main" val="268565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" y="997176"/>
            <a:ext cx="8720904" cy="36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6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16" y="697593"/>
            <a:ext cx="8612641" cy="24229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07" y="3429000"/>
            <a:ext cx="72009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4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88" y="1002392"/>
            <a:ext cx="8211911" cy="17262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27" y="3104016"/>
            <a:ext cx="7859259" cy="20050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32" y="5484360"/>
            <a:ext cx="68008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779"/>
            <a:ext cx="8824686" cy="3086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957863"/>
            <a:ext cx="8418286" cy="178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3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60" y="0"/>
            <a:ext cx="6496050" cy="2857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57" y="2917825"/>
            <a:ext cx="8476343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4" y="263751"/>
            <a:ext cx="8477250" cy="25229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9" y="3199946"/>
            <a:ext cx="8461828" cy="219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3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3" y="1077459"/>
            <a:ext cx="8837018" cy="414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7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72672"/>
            <a:ext cx="8982161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1652587"/>
            <a:ext cx="880799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5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7" y="1225323"/>
            <a:ext cx="8984343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0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1612"/>
            <a:ext cx="8982161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6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14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12194"/>
            <a:ext cx="8982160" cy="363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6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15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2637"/>
            <a:ext cx="9143999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0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9" y="1766887"/>
            <a:ext cx="8749932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5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17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3413"/>
            <a:ext cx="9143999" cy="332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8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3087"/>
            <a:ext cx="9143999" cy="342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19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635680"/>
            <a:ext cx="8113486" cy="2219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52" y="3181350"/>
            <a:ext cx="8302171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5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20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94" y="1585005"/>
            <a:ext cx="8157029" cy="382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2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21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16" y="935717"/>
            <a:ext cx="8569098" cy="452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5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22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3" y="2345645"/>
            <a:ext cx="8548914" cy="200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9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23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1000124"/>
            <a:ext cx="73152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3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5004-F4FB-5345-992E-498B4C43F562}" type="slidenum">
              <a:rPr lang="en-US" smtClean="0"/>
              <a:t>24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85" y="319767"/>
            <a:ext cx="7200900" cy="2038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85" y="3122612"/>
            <a:ext cx="731520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9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noAutofit/>
      </a:bodyPr>
      <a:lstStyle>
        <a:defPPr algn="ctr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Contemporary Portrait">
  <a:themeElements>
    <a:clrScheme name="Contemporary Portrai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ontemporary Portrait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ontemporary Portrai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bit">
      <a:maj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e9040ec0448016b5ecefae34f6404748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95855f07cc4afafae1953c524469974f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DE2E591D-2919-4C7D-BD38-61A00DFD9A0A}"/>
</file>

<file path=customXml/itemProps2.xml><?xml version="1.0" encoding="utf-8"?>
<ds:datastoreItem xmlns:ds="http://schemas.openxmlformats.org/officeDocument/2006/customXml" ds:itemID="{4BFD648A-5A3D-4D14-B31A-74D947A2F7D4}"/>
</file>

<file path=customXml/itemProps3.xml><?xml version="1.0" encoding="utf-8"?>
<ds:datastoreItem xmlns:ds="http://schemas.openxmlformats.org/officeDocument/2006/customXml" ds:itemID="{7E16EE55-C182-4EE0-BBDA-A058F03F40E7}"/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41537</TotalTime>
  <Words>160</Words>
  <Application>Microsoft Office PowerPoint</Application>
  <PresentationFormat>On-screen Show (4:3)</PresentationFormat>
  <Paragraphs>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24</vt:i4>
      </vt:variant>
    </vt:vector>
  </HeadingPairs>
  <TitlesOfParts>
    <vt:vector size="42" baseType="lpstr">
      <vt:lpstr>ＭＳ Ｐゴシック</vt:lpstr>
      <vt:lpstr>宋体</vt:lpstr>
      <vt:lpstr>Arial</vt:lpstr>
      <vt:lpstr>Arial Black</vt:lpstr>
      <vt:lpstr>Book Antiqua</vt:lpstr>
      <vt:lpstr>Calibri</vt:lpstr>
      <vt:lpstr>Candara</vt:lpstr>
      <vt:lpstr>Helvetica Neue Bold Condensed</vt:lpstr>
      <vt:lpstr>Lucida Sans</vt:lpstr>
      <vt:lpstr>Open Sans</vt:lpstr>
      <vt:lpstr>华文楷体</vt:lpstr>
      <vt:lpstr>Tahoma</vt:lpstr>
      <vt:lpstr>Wingdings</vt:lpstr>
      <vt:lpstr>Office Theme</vt:lpstr>
      <vt:lpstr>Network</vt:lpstr>
      <vt:lpstr>Contemporary Portrait</vt:lpstr>
      <vt:lpstr>1_Office Theme</vt:lpstr>
      <vt:lpstr>2_Office Theme</vt:lpstr>
      <vt:lpstr>Variational Autoencoders</vt:lpstr>
      <vt:lpstr>Variational Autoencoders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Gormley</dc:creator>
  <cp:lastModifiedBy>pc</cp:lastModifiedBy>
  <cp:revision>2801</cp:revision>
  <dcterms:created xsi:type="dcterms:W3CDTF">2014-04-15T19:33:39Z</dcterms:created>
  <dcterms:modified xsi:type="dcterms:W3CDTF">2025-02-15T13:21:34Z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